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erif Display" charset="1" panose="00000000000000000000"/>
      <p:regular r:id="rId20"/>
    </p:embeddedFon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  <p:embeddedFont>
      <p:font typeface="Prompt" charset="1" panose="00000500000000000000"/>
      <p:regular r:id="rId23"/>
    </p:embeddedFont>
    <p:embeddedFont>
      <p:font typeface="Open Sauce Heavy" charset="1" panose="00000A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4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5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6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7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8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9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1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4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5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6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7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8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Relationship Id="rId9" Type="http://schemas.openxmlformats.org/officeDocument/2006/relationships/hyperlink" Target="https://www.google.com/url?sa=t&amp;rct=j&amp;q=&amp;esrc=s&amp;source=web&amp;cd=&amp;ved=2ahUKEwi3o9Wz1uWUAxXli68BHdGoK7MQFnoECBYQAQ&amp;url=https%3A%2F%2Fbdikku.com%2F&amp;usg=AOvVaw3cq6YOK4b-Ik2uyUGJ-ztv&amp;opi=89978449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7257" y="3426140"/>
            <a:ext cx="12773486" cy="171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5"/>
              </a:lnSpc>
            </a:pPr>
            <a:r>
              <a:rPr lang="en-US" sz="10004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Patient Rescue Radar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08492" y="5076825"/>
            <a:ext cx="9871016" cy="58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3506" spc="35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ระบบกู้ชีพดึงกลับผู้ป่วยขาดการรักษา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51110" y="8480425"/>
            <a:ext cx="358578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เพื่อเธอ พี่ให้ได้หมด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61944" y="9142095"/>
            <a:ext cx="5164111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BDI YOUNG INNOVA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TO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R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 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7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HACKAT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HO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9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N</a:t>
            </a:r>
          </a:p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Young Innovator Hackathon 2026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ปัญหา (Problem)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โซลูชัน (Solution)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กลุ่มเป้าหมาย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วิธีทำงาน (Workflow)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ผลกระทบ &amp; ROI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21560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นวัตกรรมและจุดเด่น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21560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3003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ทีม (Team)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3003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67282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แผนพัฒนา (Roadmap)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7282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21560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Call to Action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21560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166399" y="1208277"/>
            <a:ext cx="5080462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191139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10037808" y="785313"/>
            <a:ext cx="8472987" cy="847298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88787">
                    <a:alpha val="50000"/>
                  </a:srgbClr>
                </a:gs>
                <a:gs pos="100000">
                  <a:srgbClr val="D5D7D8">
                    <a:alpha val="50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00396" y="5419458"/>
            <a:ext cx="3996322" cy="3996322"/>
            <a:chOff x="0" y="0"/>
            <a:chExt cx="5328429" cy="5328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28429" cy="5328429"/>
            </a:xfrm>
            <a:custGeom>
              <a:avLst/>
              <a:gdLst/>
              <a:ahLst/>
              <a:cxnLst/>
              <a:rect r="r" b="b" t="t" l="l"/>
              <a:pathLst>
                <a:path h="5328429" w="5328429">
                  <a:moveTo>
                    <a:pt x="0" y="0"/>
                  </a:moveTo>
                  <a:lnTo>
                    <a:pt x="5328429" y="0"/>
                  </a:lnTo>
                  <a:lnTo>
                    <a:pt x="5328429" y="5328429"/>
                  </a:lnTo>
                  <a:lnTo>
                    <a:pt x="0" y="5328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5129543" cy="512954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0D7DD">
                  <a:alpha val="92941"/>
                </a:srgbClr>
              </a:solidFill>
              <a:ln w="38100" cap="sq">
                <a:solidFill>
                  <a:srgbClr val="FFFFFF">
                    <a:alpha val="92941"/>
                  </a:srgbClr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33350"/>
                <a:ext cx="660400" cy="603250"/>
              </a:xfrm>
              <a:prstGeom prst="rect">
                <a:avLst/>
              </a:prstGeom>
            </p:spPr>
            <p:txBody>
              <a:bodyPr anchor="ctr" rtlCol="false" tIns="42898" lIns="42898" bIns="42898" rIns="42898"/>
              <a:lstStyle/>
              <a:p>
                <a:pPr algn="ctr">
                  <a:lnSpc>
                    <a:spcPts val="234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2238974" y="6236086"/>
            <a:ext cx="41132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-103">
                <a:solidFill>
                  <a:srgbClr val="951C1C"/>
                </a:solidFill>
                <a:latin typeface="Prompt"/>
                <a:ea typeface="Prompt"/>
                <a:cs typeface="Prompt"/>
                <a:sym typeface="Prompt"/>
              </a:rPr>
              <a:t>diabetes and hypertension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30181" y="6550411"/>
            <a:ext cx="4536753" cy="1368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3"/>
              </a:lnSpc>
            </a:pPr>
            <a:r>
              <a:rPr lang="en-US" b="true" sz="10843" spc="-509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 /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59175" y="3742816"/>
            <a:ext cx="6472880" cy="234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0"/>
              </a:lnSpc>
            </a:pPr>
            <a:r>
              <a:rPr lang="en-US" b="true" sz="18500" spc="-869">
                <a:solidFill>
                  <a:srgbClr val="951C1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23 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02101" y="8061353"/>
            <a:ext cx="339291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84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of Thailand’s population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8457" y="3332355"/>
            <a:ext cx="887141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ประเทศไทยมีผู้ป่วย</a:t>
            </a:r>
            <a:r>
              <a:rPr lang="en-US" b="true" sz="2999">
                <a:solidFill>
                  <a:srgbClr val="FF0D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เบาหวานและความดันโลหิตสูง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รวม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230237" y="8463291"/>
            <a:ext cx="2615385" cy="19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97"/>
              </a:lnSpc>
              <a:spcBef>
                <a:spcPct val="0"/>
              </a:spcBef>
            </a:pPr>
            <a:r>
              <a:rPr lang="en-US" sz="1212" spc="121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191139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6931533" y="2119206"/>
            <a:ext cx="6422337" cy="64223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88787">
                    <a:alpha val="50000"/>
                  </a:srgbClr>
                </a:gs>
                <a:gs pos="100000">
                  <a:srgbClr val="D5D7D8">
                    <a:alpha val="50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11422" y="5631786"/>
            <a:ext cx="3029124" cy="3029124"/>
            <a:chOff x="0" y="0"/>
            <a:chExt cx="4038832" cy="4038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8832" cy="4038832"/>
            </a:xfrm>
            <a:custGeom>
              <a:avLst/>
              <a:gdLst/>
              <a:ahLst/>
              <a:cxnLst/>
              <a:rect r="r" b="b" t="t" l="l"/>
              <a:pathLst>
                <a:path h="4038832" w="4038832">
                  <a:moveTo>
                    <a:pt x="0" y="0"/>
                  </a:moveTo>
                  <a:lnTo>
                    <a:pt x="4038832" y="0"/>
                  </a:lnTo>
                  <a:lnTo>
                    <a:pt x="4038832" y="4038832"/>
                  </a:lnTo>
                  <a:lnTo>
                    <a:pt x="0" y="4038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3888080" cy="388808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0D7DD">
                  <a:alpha val="92941"/>
                </a:srgbClr>
              </a:solidFill>
              <a:ln w="38100" cap="sq">
                <a:solidFill>
                  <a:srgbClr val="FFFFFF">
                    <a:alpha val="92941"/>
                  </a:srgbClr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33350"/>
                <a:ext cx="660400" cy="603250"/>
              </a:xfrm>
              <a:prstGeom prst="rect">
                <a:avLst/>
              </a:prstGeom>
            </p:spPr>
            <p:txBody>
              <a:bodyPr anchor="ctr" rtlCol="false" tIns="42898" lIns="42898" bIns="42898" rIns="42898"/>
              <a:lstStyle/>
              <a:p>
                <a:pPr algn="ctr">
                  <a:lnSpc>
                    <a:spcPts val="234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true" flipV="false" rot="-6974975">
            <a:off x="2814021" y="6521585"/>
            <a:ext cx="2457496" cy="1827763"/>
          </a:xfrm>
          <a:custGeom>
            <a:avLst/>
            <a:gdLst/>
            <a:ahLst/>
            <a:cxnLst/>
            <a:rect r="r" b="b" t="t" l="l"/>
            <a:pathLst>
              <a:path h="1827763" w="2457496">
                <a:moveTo>
                  <a:pt x="2457496" y="0"/>
                </a:moveTo>
                <a:lnTo>
                  <a:pt x="0" y="0"/>
                </a:lnTo>
                <a:lnTo>
                  <a:pt x="0" y="1827763"/>
                </a:lnTo>
                <a:lnTo>
                  <a:pt x="2457496" y="1827763"/>
                </a:lnTo>
                <a:lnTo>
                  <a:pt x="24574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166399" y="1122774"/>
            <a:ext cx="5080462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99968" y="6251076"/>
            <a:ext cx="3117776" cy="28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4"/>
              </a:lnSpc>
            </a:pPr>
            <a:r>
              <a:rPr lang="en-US" sz="1667" spc="-78">
                <a:solidFill>
                  <a:srgbClr val="951C1C"/>
                </a:solidFill>
                <a:latin typeface="Prompt"/>
                <a:ea typeface="Prompt"/>
                <a:cs typeface="Prompt"/>
                <a:sym typeface="Prompt"/>
              </a:rPr>
              <a:t>diabetes and hypertension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6605" y="6479676"/>
            <a:ext cx="3438758" cy="104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6"/>
              </a:lnSpc>
            </a:pPr>
            <a:r>
              <a:rPr lang="en-US" b="true" sz="8219" spc="-38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 /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05706" y="4366805"/>
            <a:ext cx="4906300" cy="177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1"/>
              </a:lnSpc>
            </a:pPr>
            <a:r>
              <a:rPr lang="en-US" b="true" sz="14022" spc="-659">
                <a:solidFill>
                  <a:srgbClr val="951C1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23 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40108" y="7634587"/>
            <a:ext cx="2571752" cy="23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sz="1364" spc="-64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of Thailand’s population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6399" y="2966963"/>
            <a:ext cx="4239462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แต่ความท้าทายสำคัญไม่ใช่แค่การรักษาโรค คือการที่ 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ผู้ป่วยจำนวนม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า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กข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า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ด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น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ัด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และ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หลุดจากระบบก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า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รร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ั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กษา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จ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น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นำไป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สู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่ภาวะแทรกซ้อนรุนแรง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9230237" y="8463291"/>
            <a:ext cx="2615385" cy="197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97"/>
              </a:lnSpc>
              <a:spcBef>
                <a:spcPct val="0"/>
              </a:spcBef>
            </a:pPr>
            <a:r>
              <a:rPr lang="en-US" sz="1212" spc="121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191139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6931533" y="2119206"/>
            <a:ext cx="6422337" cy="64223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88787">
                    <a:alpha val="50000"/>
                  </a:srgbClr>
                </a:gs>
                <a:gs pos="100000">
                  <a:srgbClr val="D5D7D8">
                    <a:alpha val="50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11422" y="5631786"/>
            <a:ext cx="3029124" cy="3029124"/>
            <a:chOff x="0" y="0"/>
            <a:chExt cx="4038832" cy="4038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8832" cy="4038832"/>
            </a:xfrm>
            <a:custGeom>
              <a:avLst/>
              <a:gdLst/>
              <a:ahLst/>
              <a:cxnLst/>
              <a:rect r="r" b="b" t="t" l="l"/>
              <a:pathLst>
                <a:path h="4038832" w="4038832">
                  <a:moveTo>
                    <a:pt x="0" y="0"/>
                  </a:moveTo>
                  <a:lnTo>
                    <a:pt x="4038832" y="0"/>
                  </a:lnTo>
                  <a:lnTo>
                    <a:pt x="4038832" y="4038832"/>
                  </a:lnTo>
                  <a:lnTo>
                    <a:pt x="0" y="4038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3888080" cy="388808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0D7DD">
                  <a:alpha val="92941"/>
                </a:srgbClr>
              </a:solidFill>
              <a:ln w="38100" cap="sq">
                <a:solidFill>
                  <a:srgbClr val="FFFFFF">
                    <a:alpha val="92941"/>
                  </a:srgbClr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33350"/>
                <a:ext cx="660400" cy="603250"/>
              </a:xfrm>
              <a:prstGeom prst="rect">
                <a:avLst/>
              </a:prstGeom>
            </p:spPr>
            <p:txBody>
              <a:bodyPr anchor="ctr" rtlCol="false" tIns="42898" lIns="42898" bIns="42898" rIns="42898"/>
              <a:lstStyle/>
              <a:p>
                <a:pPr algn="ctr">
                  <a:lnSpc>
                    <a:spcPts val="234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true" flipV="false" rot="-6974975">
            <a:off x="2814021" y="6521585"/>
            <a:ext cx="2457496" cy="1827763"/>
          </a:xfrm>
          <a:custGeom>
            <a:avLst/>
            <a:gdLst/>
            <a:ahLst/>
            <a:cxnLst/>
            <a:rect r="r" b="b" t="t" l="l"/>
            <a:pathLst>
              <a:path h="1827763" w="2457496">
                <a:moveTo>
                  <a:pt x="2457496" y="0"/>
                </a:moveTo>
                <a:lnTo>
                  <a:pt x="0" y="0"/>
                </a:lnTo>
                <a:lnTo>
                  <a:pt x="0" y="1827763"/>
                </a:lnTo>
                <a:lnTo>
                  <a:pt x="2457496" y="1827763"/>
                </a:lnTo>
                <a:lnTo>
                  <a:pt x="24574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166399" y="1122774"/>
            <a:ext cx="5080462" cy="144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99968" y="6251076"/>
            <a:ext cx="3117776" cy="28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4"/>
              </a:lnSpc>
            </a:pPr>
            <a:r>
              <a:rPr lang="en-US" sz="1667" spc="-78">
                <a:solidFill>
                  <a:srgbClr val="951C1C"/>
                </a:solidFill>
                <a:latin typeface="Prompt"/>
                <a:ea typeface="Prompt"/>
                <a:cs typeface="Prompt"/>
                <a:sym typeface="Prompt"/>
              </a:rPr>
              <a:t>diabetes and hypertension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6605" y="6479676"/>
            <a:ext cx="3438758" cy="104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6"/>
              </a:lnSpc>
            </a:pPr>
            <a:r>
              <a:rPr lang="en-US" b="true" sz="8219" spc="-38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 /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05706" y="4366805"/>
            <a:ext cx="4906300" cy="177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1"/>
              </a:lnSpc>
            </a:pPr>
            <a:r>
              <a:rPr lang="en-US" b="true" sz="14022" spc="-659">
                <a:solidFill>
                  <a:srgbClr val="951C1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23 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40108" y="7634587"/>
            <a:ext cx="2571752" cy="23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sz="1364" spc="-64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of Thailand’s population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6399" y="2966963"/>
            <a:ext cx="4239462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แต่ความท้าทายสำคัญไม่ใช่แค่การรักษาโรค คือการที่ 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ผู้ป่วยจำนวนม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า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กข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า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ด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น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ัด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และ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หลุดจากระบบก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า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รร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ั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กษา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จ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น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นำไป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สู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่ภาวะแทรกซ้อนรุนแรง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2591667">
            <a:off x="13443140" y="2084069"/>
            <a:ext cx="2457496" cy="1827763"/>
          </a:xfrm>
          <a:custGeom>
            <a:avLst/>
            <a:gdLst/>
            <a:ahLst/>
            <a:cxnLst/>
            <a:rect r="r" b="b" t="t" l="l"/>
            <a:pathLst>
              <a:path h="1827763" w="2457496">
                <a:moveTo>
                  <a:pt x="2457496" y="0"/>
                </a:moveTo>
                <a:lnTo>
                  <a:pt x="0" y="0"/>
                </a:lnTo>
                <a:lnTo>
                  <a:pt x="0" y="1827762"/>
                </a:lnTo>
                <a:lnTo>
                  <a:pt x="2457496" y="1827762"/>
                </a:lnTo>
                <a:lnTo>
                  <a:pt x="24574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1" id="21"/>
          <p:cNvSpPr txBox="true"/>
          <p:nvPr/>
        </p:nvSpPr>
        <p:spPr>
          <a:xfrm rot="0">
            <a:off x="13763041" y="3793460"/>
            <a:ext cx="4036419" cy="35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จึงเกิดเป็นระบบ AI ที่สามารถ 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คาดการณ์ผู้ป่วยกลุ่มเ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สี</a:t>
            </a:r>
            <a:r>
              <a:rPr lang="en-US" b="true" sz="29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่ยงล่วงหน้า 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ติดตามผู้ป่วยได้อย่างตรงจุด เพิ่มโอกาสให้ผู้ป่วยได้รับการรักษาอย่างต่อเนื่อง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67267" y="4318533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6777" y="4318533"/>
            <a:ext cx="1363095" cy="1215337"/>
          </a:xfrm>
          <a:custGeom>
            <a:avLst/>
            <a:gdLst/>
            <a:ahLst/>
            <a:cxnLst/>
            <a:rect r="r" b="b" t="t" l="l"/>
            <a:pathLst>
              <a:path h="1215337" w="1363095">
                <a:moveTo>
                  <a:pt x="0" y="0"/>
                </a:moveTo>
                <a:lnTo>
                  <a:pt x="1363095" y="0"/>
                </a:lnTo>
                <a:lnTo>
                  <a:pt x="136309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โซลูชัน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1259" y="6004245"/>
            <a:ext cx="4276833" cy="109601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ระบบ AI ที่เปลี่ยน "ข้อมูลที่หายไป" ให้กลายเป็น "สัญญาณเตือนภัย"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05583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ใช้ Missing Data เป็น signal — ผู้ป่วยไม่มาพบแพทย์ = ข้อมูล EMR ว่าง = สัญญาณ LTFU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9907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XGBoost + SHAP — คาดการณ์ Risk Score 0–100 พร้อมอธิบาย "ทำไม" ให้ Case Manager เข้าใจ  |  High Risk ≥70 → ติดต่อเชิงรุก  |  On-premise + PDPA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949943" y="4318533"/>
            <a:ext cx="1459466" cy="1215337"/>
          </a:xfrm>
          <a:custGeom>
            <a:avLst/>
            <a:gdLst/>
            <a:ahLst/>
            <a:cxnLst/>
            <a:rect r="r" b="b" t="t" l="l"/>
            <a:pathLst>
              <a:path h="1215337" w="1459466">
                <a:moveTo>
                  <a:pt x="0" y="0"/>
                </a:moveTo>
                <a:lnTo>
                  <a:pt x="1459466" y="0"/>
                </a:lnTo>
                <a:lnTo>
                  <a:pt x="1459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504482" y="2526972"/>
          <a:ext cx="13830949" cy="7166763"/>
        </p:xfrm>
        <a:graphic>
          <a:graphicData uri="http://schemas.openxmlformats.org/drawingml/2006/table">
            <a:tbl>
              <a:tblPr/>
              <a:tblGrid>
                <a:gridCol w="4444514"/>
                <a:gridCol w="4444514"/>
                <a:gridCol w="4941921"/>
              </a:tblGrid>
              <a:tr h="1070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Primary Target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Secondary Target Group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5364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822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ผู้ป่วยความดันและเบาหวานที่</a:t>
                      </a:r>
                      <a:endParaRPr lang="en-US" sz="1100"/>
                    </a:p>
                    <a:p>
                      <a:pPr algn="ctr">
                        <a:lnSpc>
                          <a:spcPts val="3822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เสี่ยงขาดการติดตามการรักษา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1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28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พยาบาลวิชาชีพ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และ</a:t>
                      </a:r>
                      <a:endParaRPr lang="en-US" sz="1100"/>
                    </a:p>
                    <a:p>
                      <a:pPr algn="ctr">
                        <a:lnSpc>
                          <a:spcPts val="3528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ทีมดูแลผู้ป่วยโรคเรื้อรัง 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แพทย์ผู้ดูแลรักษา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09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เครือข่ายสาธารณสุขระดับชุมชน</a:t>
                      </a: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5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ระบบสาธารณสุขและ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หน่วยงานภาครัฐที่เกี่ยวข้อง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กลุ่มเป้าหมาย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341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นวัตกรรมและจุดเด่น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649" y="4537700"/>
            <a:ext cx="6860034" cy="334391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ใช้ MNAR (Missing Not At Random) เป็น feature หลัก — ไม่ใช่แค่ค่าตรวจวัด
SHAP อธิบายเหตุผลทุกการตัดสินใจเป็นภาษาคลินิก (ไม่ใช่ black box)
งานวิจัยรองรับ (Sperrin 2021, Nijman 2025) — missingness indicators ช่วยเพิ่ม AUC อย่างมีนัยสำคัญ
ต้นทุนต่ำ ROI สูง — ใช้ EMR ที่มีอยู่แล้ว ไม่ต้องลงทุน infrastructure ใหม่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4952833" cy="221869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วิธีทำงาน (Workflow)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19231" y="1477572"/>
            <a:ext cx="3345981" cy="33459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85456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EMR Raw Data
ดึงข้อมูล EMR ผู้ป่วย NCD (DM+HT) 220,000+ คน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19231" y="5463447"/>
            <a:ext cx="3345981" cy="33459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98533" y="6605630"/>
            <a:ext cx="2387379" cy="110358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Feature Engineering
สกัด 12 features จาก visit pattern, lab sparsity, medication gap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41463" y="1477572"/>
            <a:ext cx="3345981" cy="33459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07687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MNAR Detection
ข้อมูลที่หายไป = ผู้ป่วยไม่มา = สัญญาณ LTFU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41463" y="5463447"/>
            <a:ext cx="3345981" cy="33459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420764" y="6322750"/>
            <a:ext cx="2387379" cy="166934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XGBoost Prediction
ทำนาย risk score 0-100 + SHAP explanation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63694" y="1477572"/>
            <a:ext cx="3345981" cy="334598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29918" y="2545407"/>
            <a:ext cx="2813532" cy="109601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 Risk Stratification
High Risk &gt;=70 -&gt; Action / Low Risk &lt;70 -&gt; Routine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763694" y="5463447"/>
            <a:ext cx="3345981" cy="334598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42995" y="6888510"/>
            <a:ext cx="2387379" cy="5378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6. Case Manager / อสม.
ส่งรายชื่อเสี่ยง + 3 เหตุผล -&gt; ติดต่อเชิงรุก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ผลกระทบ &amp; ROI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1538461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ลงทุน 2 ล้านบาท ประหยัดงบประมาณ 270–540 ล้านบาท/ปี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592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ลด LTFU Rate
15–20% ภายใน 1 ปี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399" y="4852373"/>
            <a:ext cx="4843133" cy="359473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Case Manager โทรหาผู้ป่วยเสี่ยงสูงทันที ลดภาระงานคัดกรอง 25%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1959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ROI 134 เท่า
(Conservative estimate)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22434" y="4852373"/>
            <a:ext cx="4843133" cy="25088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ลงทุน 2M บาท -&gt; ป้องกัน dialysis 1,000 คน x 540K = 540M บาท/ปี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99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 220K+ คน
(DM 70K + HT 150K)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78469" y="4852373"/>
            <a:ext cx="4843133" cy="32327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Prototype ทดสอบแล้ว scale ขึ้น full dataset ได้ทันที onsite 2 วัน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790438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ทีม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KMUTT วิศวกรรมคอมพิวเตอร์ ปี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90438" y="7338209"/>
            <a:ext cx="3588175" cy="81724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Technical &amp; AI Architect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90438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กอ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59663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514" r="0" b="-2251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59663" y="7338209"/>
            <a:ext cx="3588175" cy="39814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Product &amp; Innovation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9663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ข้าวฟาง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533427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43" r="0" b="-3968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33427" y="7338209"/>
            <a:ext cx="3588175" cy="39814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System Design &amp; Workflow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33427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จีน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แผนพัฒนา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899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8899" y="3679049"/>
            <a:ext cx="3237203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Hackathon (2 วัน): Prototype 220K คน | XGBoost + SHAP | Patient Risk Card</a:t>
            </a:r>
          </a:p>
        </p:txBody>
      </p:sp>
      <p:sp>
        <p:nvSpPr>
          <p:cNvPr name="AutoShape 9" id="9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720345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0345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Post-Hackathon: Pilot โรงพยาบาลพันธมิตร | FastAPI + Streamlit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0079204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9204" y="3679049"/>
            <a:ext cx="3237203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Scale: เชื่อม HIS โรงพยาบาล | On-premise | PDPA compliant</a:t>
            </a:r>
          </a:p>
        </p:txBody>
      </p:sp>
      <p:sp>
        <p:nvSpPr>
          <p:cNvPr name="AutoShape 16" id="16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3680650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80650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National: ขยายผลผ่าน Smart NCD Network 2027 ครอบคลุมทุกจังหวัด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Call to 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BDI Hackathon 2026 | KMUTT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9447306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ร่วมเปลี่ยนผู้ป่วยที่หลุดจากระบบ ให้กลับมารักษาก่อนสายเกินไป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0686" y="4213563"/>
            <a:ext cx="3057948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ไอเดีย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9721" y="4213563"/>
            <a:ext cx="6474153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 Rescue Radar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0686" y="5180965"/>
            <a:ext cx="3057948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แนวคิด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89721" y="5180965"/>
            <a:ext cx="6474153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เปลี่ยนข้อมูลเป็นเรดาร์กู้ชีพ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0686" y="6148367"/>
            <a:ext cx="3057948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ทีม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89721" y="6148367"/>
            <a:ext cx="6474153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กอ | จีน | ข้าวฟาง | ขฟ | KMUTT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0686" y="7115770"/>
            <a:ext cx="3057948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เป้าหมาย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9721" y="7115770"/>
            <a:ext cx="6474153" cy="45910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ลด LTFU 15–20% | ROI 134x | 220K+ คน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51110" y="8480425"/>
            <a:ext cx="358578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เพื่อเธอ พี่ให้ได้หมด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61944" y="9142095"/>
            <a:ext cx="5164111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3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BDI YOUNG INNOVA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TO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5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R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6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 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7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HACKAT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HO</a:t>
            </a:r>
            <a:r>
              <a:rPr lang="en-US" sz="1599" spc="159" strike="noStrike" u="sng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  <a:hlinkClick r:id="rId9" tooltip="https://www.google.com/url?sa=t&amp;rct=j&amp;q=&amp;esrc=s&amp;source=web&amp;cd=&amp;ved=2ahUKEwi3o9Wz1uWUAxXli68BHdGoK7MQFnoECBYQAQ&amp;url=https%3A%2F%2Fbdikku.com%2F&amp;usg=AOvVaw3cq6YOK4b-Ik2uyUGJ-ztv&amp;opi=89978449"/>
              </a:rPr>
              <a:t>N</a:t>
            </a:r>
          </a:p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DAHLUCRVm7k</dc:identifier>
  <dcterms:modified xsi:type="dcterms:W3CDTF">2011-08-01T06:04:30Z</dcterms:modified>
  <cp:revision>1</cp:revision>
  <dc:title>BDI</dc:title>
</cp:coreProperties>
</file>